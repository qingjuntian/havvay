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365F"/>
          </a:solidFill>
          <a:ln>
            <a:solidFill>
              <a:srgbClr val="113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1365F"/>
                </a:solidFill>
                <a:latin typeface="Microsoft YaHei"/>
              </a:rPr>
              <a:t>统一模型网关平台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>
                <a:solidFill>
                  <a:srgbClr val="606C78"/>
                </a:solidFill>
                <a:latin typeface="Microsoft YaHei"/>
              </a:rPr>
              <a:t>SaaS 优先 · 多租户 · 统一接入 · 成本治理 · 可扩展企业能力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2011680"/>
            <a:ext cx="3200400" cy="2834640"/>
          </a:xfrm>
          <a:prstGeom prst="roundRect">
            <a:avLst/>
          </a:prstGeom>
          <a:solidFill>
            <a:srgbClr val="11365F"/>
          </a:solidFill>
          <a:ln>
            <a:solidFill>
              <a:srgbClr val="113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6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SaaS优先</a:t>
            </a:r>
          </a:p>
          <a:p>
            <a:pPr algn="ctr">
              <a:spcAft>
                <a:spcPts val="16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统一 API</a:t>
            </a:r>
          </a:p>
          <a:p>
            <a:pPr algn="ctr">
              <a:spcAft>
                <a:spcPts val="16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多租户治理</a:t>
            </a:r>
          </a:p>
          <a:p>
            <a:pPr algn="ctr">
              <a:spcAft>
                <a:spcPts val="16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成本控制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572000"/>
            <a:ext cx="2560320" cy="1234440"/>
          </a:xfrm>
          <a:prstGeom prst="roundRect">
            <a:avLst/>
          </a:prstGeom>
          <a:solidFill>
            <a:srgbClr val="F0F4F8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1365F"/>
                </a:solidFill>
                <a:latin typeface="Microsoft YaHei"/>
              </a:rPr>
              <a:t>统一接入</a:t>
            </a:r>
          </a:p>
          <a:p>
            <a:pPr algn="ctr"/>
            <a:r>
              <a:rPr sz="900">
                <a:solidFill>
                  <a:srgbClr val="606C78"/>
                </a:solidFill>
                <a:latin typeface="Microsoft YaHei"/>
              </a:rPr>
              <a:t>OpenAI/Moonshot/Anthropic等多模型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4572000"/>
            <a:ext cx="2560320" cy="1234440"/>
          </a:xfrm>
          <a:prstGeom prst="roundRect">
            <a:avLst/>
          </a:prstGeom>
          <a:solidFill>
            <a:srgbClr val="F0F4F8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1365F"/>
                </a:solidFill>
                <a:latin typeface="Microsoft YaHei"/>
              </a:rPr>
              <a:t>统一治理</a:t>
            </a:r>
          </a:p>
          <a:p>
            <a:pPr algn="ctr"/>
            <a:r>
              <a:rPr sz="900">
                <a:solidFill>
                  <a:srgbClr val="606C78"/>
                </a:solidFill>
                <a:latin typeface="Microsoft YaHei"/>
              </a:rPr>
              <a:t>租户、API Key、限流、配额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4572000"/>
            <a:ext cx="2560320" cy="1234440"/>
          </a:xfrm>
          <a:prstGeom prst="roundRect">
            <a:avLst/>
          </a:prstGeom>
          <a:solidFill>
            <a:srgbClr val="F0F4F8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1365F"/>
                </a:solidFill>
                <a:latin typeface="Microsoft YaHei"/>
              </a:rPr>
              <a:t>统一成本</a:t>
            </a:r>
          </a:p>
          <a:p>
            <a:pPr algn="ctr"/>
            <a:r>
              <a:rPr sz="900">
                <a:solidFill>
                  <a:srgbClr val="606C78"/>
                </a:solidFill>
                <a:latin typeface="Microsoft YaHei"/>
              </a:rPr>
              <a:t>预算、token计量、告警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9719" y="4572000"/>
            <a:ext cx="2560320" cy="1234440"/>
          </a:xfrm>
          <a:prstGeom prst="roundRect">
            <a:avLst/>
          </a:prstGeom>
          <a:solidFill>
            <a:srgbClr val="F0F4F8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1365F"/>
                </a:solidFill>
                <a:latin typeface="Microsoft YaHei"/>
              </a:rPr>
              <a:t>统一审计</a:t>
            </a:r>
          </a:p>
          <a:p>
            <a:pPr algn="ctr"/>
            <a:r>
              <a:rPr sz="900">
                <a:solidFill>
                  <a:srgbClr val="606C78"/>
                </a:solidFill>
                <a:latin typeface="Microsoft YaHei"/>
              </a:rPr>
              <a:t>日志、追踪、运营洞察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1365F"/>
                </a:solidFill>
              </a:rPr>
              <a:t>为什么需要统一模型网关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06C78"/>
                </a:solidFill>
              </a:rPr>
              <a:t>企业在多模型时代面临统一接入与治理难题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>
                <a:solidFill>
                  <a:srgbClr val="1E293B"/>
                </a:solidFill>
                <a:latin typeface="Microsoft YaHei"/>
              </a:rPr>
              <a:t>不同模型厂商 API 形式、定价和能力存在明显差异，应用层被迫适配多个 SDK 和协议。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1E293B"/>
                </a:solidFill>
                <a:latin typeface="Microsoft YaHei"/>
              </a:rPr>
              <a:t>企业缺少统一的租户权限控制、API Key 管理、限流和配额能力，导致安全和成本控制困难。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1E293B"/>
                </a:solidFill>
                <a:latin typeface="Microsoft YaHei"/>
              </a:rPr>
              <a:t>模型稳定性不一致，单独接入会带来超时、失败、降级和研发成本高的问题。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1E293B"/>
                </a:solidFill>
                <a:latin typeface="Microsoft YaHei"/>
              </a:rPr>
              <a:t>上游 provider 变化快，业务需要有统一抽象层，避免被供应商绑定。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1E293B"/>
                </a:solidFill>
                <a:latin typeface="Microsoft YaHei"/>
              </a:rPr>
              <a:t>平台若不具备审计、预算和观测能力，很难进入规模化运营阶段。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1365F"/>
                </a:solidFill>
              </a:rPr>
              <a:t>方案概览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06C78"/>
                </a:solidFill>
              </a:rPr>
              <a:t>从“多模型接入”升级为“统一平台能力”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194560" cy="914400"/>
          </a:xfrm>
          <a:prstGeom prst="roundRect">
            <a:avLst/>
          </a:prstGeom>
          <a:solidFill>
            <a:srgbClr val="F5903A"/>
          </a:solidFill>
          <a:ln>
            <a:solidFill>
              <a:srgbClr val="F59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统一模型入口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737360"/>
            <a:ext cx="2011680" cy="914400"/>
          </a:xfrm>
          <a:prstGeom prst="roundRect">
            <a:avLst/>
          </a:prstGeom>
          <a:solidFill>
            <a:srgbClr val="F5903A"/>
          </a:solidFill>
          <a:ln>
            <a:solidFill>
              <a:srgbClr val="F59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统一鉴权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737360"/>
            <a:ext cx="2011680" cy="914400"/>
          </a:xfrm>
          <a:prstGeom prst="roundRect">
            <a:avLst/>
          </a:prstGeom>
          <a:solidFill>
            <a:srgbClr val="F5903A"/>
          </a:solidFill>
          <a:ln>
            <a:solidFill>
              <a:srgbClr val="F59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统一预算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737360"/>
            <a:ext cx="2011680" cy="914400"/>
          </a:xfrm>
          <a:prstGeom prst="roundRect">
            <a:avLst/>
          </a:prstGeom>
          <a:solidFill>
            <a:srgbClr val="F5903A"/>
          </a:solidFill>
          <a:ln>
            <a:solidFill>
              <a:srgbClr val="F59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统一审计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26080"/>
            <a:ext cx="2011680" cy="1554480"/>
          </a:xfrm>
          <a:prstGeom prst="roundRect">
            <a:avLst/>
          </a:prstGeom>
          <a:solidFill>
            <a:srgbClr val="F0F4F8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293B"/>
                </a:solidFill>
                <a:latin typeface="Microsoft YaHei"/>
              </a:rPr>
              <a:t>OpenAI</a:t>
            </a:r>
            <a:br/>
            <a:r>
              <a:t>Moonshot</a:t>
            </a:r>
            <a:br/>
            <a:r>
              <a:t>Anthropic</a:t>
            </a:r>
            <a:br/>
            <a:r>
              <a:t>Azure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2926080"/>
            <a:ext cx="2103120" cy="1554480"/>
          </a:xfrm>
          <a:prstGeom prst="roundRect">
            <a:avLst/>
          </a:prstGeom>
          <a:solidFill>
            <a:srgbClr val="F0F4F8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293B"/>
                </a:solidFill>
                <a:latin typeface="Microsoft YaHei"/>
              </a:rPr>
              <a:t>API Key</a:t>
            </a:r>
            <a:br/>
            <a:r>
              <a:t>租户隔离</a:t>
            </a:r>
            <a:br/>
            <a:r>
              <a:t>角色权限</a:t>
            </a:r>
            <a:br/>
            <a:r>
              <a:t>限流配额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2926080"/>
            <a:ext cx="2286000" cy="1554480"/>
          </a:xfrm>
          <a:prstGeom prst="roundRect">
            <a:avLst/>
          </a:prstGeom>
          <a:solidFill>
            <a:srgbClr val="F0F4F8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293B"/>
                </a:solidFill>
                <a:latin typeface="Microsoft YaHei"/>
              </a:rPr>
              <a:t>token 计量</a:t>
            </a:r>
            <a:br/>
            <a:r>
              <a:t>成本估算</a:t>
            </a:r>
            <a:br/>
            <a:r>
              <a:t>预算报警</a:t>
            </a:r>
            <a:br/>
            <a:r>
              <a:t>cost guard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926080"/>
            <a:ext cx="2560320" cy="1554480"/>
          </a:xfrm>
          <a:prstGeom prst="roundRect">
            <a:avLst/>
          </a:prstGeom>
          <a:solidFill>
            <a:srgbClr val="F0F4F8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293B"/>
                </a:solidFill>
                <a:latin typeface="Microsoft YaHei"/>
              </a:rPr>
              <a:t>调用日志</a:t>
            </a:r>
            <a:br/>
            <a:r>
              <a:t>链路追踪</a:t>
            </a:r>
            <a:br/>
            <a:r>
              <a:t>指标告警</a:t>
            </a:r>
            <a:br/>
            <a:r>
              <a:t>运营视图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212080"/>
            <a:ext cx="2468880" cy="822960"/>
          </a:xfrm>
          <a:prstGeom prst="rect">
            <a:avLst/>
          </a:prstGeom>
          <a:solidFill>
            <a:srgbClr val="21598F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A. API Gateway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Microsoft YaHei"/>
              </a:rPr>
              <a:t>统一对外接入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5212080"/>
            <a:ext cx="2468880" cy="822960"/>
          </a:xfrm>
          <a:prstGeom prst="rect">
            <a:avLst/>
          </a:prstGeom>
          <a:solidFill>
            <a:srgbClr val="21598F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B. Routing Engine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Microsoft YaHei"/>
              </a:rPr>
              <a:t>按策略选 provider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5212080"/>
            <a:ext cx="2468880" cy="822960"/>
          </a:xfrm>
          <a:prstGeom prst="rect">
            <a:avLst/>
          </a:prstGeom>
          <a:solidFill>
            <a:srgbClr val="21598F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C. Provider Adapter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Microsoft YaHei"/>
              </a:rPr>
              <a:t>抽象不同模型差异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5212080"/>
            <a:ext cx="2468880" cy="822960"/>
          </a:xfrm>
          <a:prstGeom prst="rect">
            <a:avLst/>
          </a:prstGeom>
          <a:solidFill>
            <a:srgbClr val="21598F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D. FinOps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Microsoft YaHei"/>
              </a:rPr>
              <a:t>管理成本与预算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1365F"/>
                </a:solidFill>
              </a:rPr>
              <a:t>核心架构图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06C78"/>
                </a:solidFill>
              </a:rPr>
              <a:t>MVP 版：统一接入 + 多租户 + 成本治理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1371600" cy="914400"/>
          </a:xfrm>
          <a:prstGeom prst="roundRect">
            <a:avLst/>
          </a:prstGeom>
          <a:solidFill>
            <a:srgbClr val="11365F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Client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2286000"/>
            <a:ext cx="1828800" cy="1371600"/>
          </a:xfrm>
          <a:prstGeom prst="roundRect">
            <a:avLst/>
          </a:prstGeom>
          <a:solidFill>
            <a:srgbClr val="F0F4F8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293B"/>
                </a:solidFill>
                <a:latin typeface="Microsoft YaHei"/>
              </a:rPr>
              <a:t>API Gateway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920240"/>
            <a:ext cx="1828800" cy="1828800"/>
          </a:xfrm>
          <a:prstGeom prst="roundRect">
            <a:avLst/>
          </a:prstGeom>
          <a:solidFill>
            <a:srgbClr val="F0F4F8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293B"/>
                </a:solidFill>
                <a:latin typeface="Microsoft YaHei"/>
              </a:rPr>
              <a:t>Auth / Tenant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920240"/>
            <a:ext cx="1828800" cy="1828800"/>
          </a:xfrm>
          <a:prstGeom prst="roundRect">
            <a:avLst/>
          </a:prstGeom>
          <a:solidFill>
            <a:srgbClr val="F0F4F8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293B"/>
                </a:solidFill>
                <a:latin typeface="Microsoft YaHei"/>
              </a:rPr>
              <a:t>Routing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1920240"/>
            <a:ext cx="1828800" cy="1828800"/>
          </a:xfrm>
          <a:prstGeom prst="roundRect">
            <a:avLst/>
          </a:prstGeom>
          <a:solidFill>
            <a:srgbClr val="F0F4F8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293B"/>
                </a:solidFill>
                <a:latin typeface="Microsoft YaHei"/>
              </a:rPr>
              <a:t>Provider Adapter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4572000"/>
            <a:ext cx="6400800" cy="1280160"/>
          </a:xfrm>
          <a:prstGeom prst="roundRect">
            <a:avLst/>
          </a:prstGeom>
          <a:solidFill>
            <a:srgbClr val="F5903A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Usage / Cost / Audit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03120" y="2834640"/>
            <a:ext cx="594360" cy="0"/>
          </a:xfrm>
          <a:prstGeom prst="line">
            <a:avLst/>
          </a:prstGeom>
          <a:ln w="25400">
            <a:solidFill>
              <a:srgbClr val="2159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297679" y="2834640"/>
            <a:ext cx="594361" cy="0"/>
          </a:xfrm>
          <a:prstGeom prst="line">
            <a:avLst/>
          </a:prstGeom>
          <a:ln w="25400">
            <a:solidFill>
              <a:srgbClr val="2159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492240" y="2834640"/>
            <a:ext cx="594360" cy="0"/>
          </a:xfrm>
          <a:prstGeom prst="line">
            <a:avLst/>
          </a:prstGeom>
          <a:ln w="25400">
            <a:solidFill>
              <a:srgbClr val="2159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686800" y="2834640"/>
            <a:ext cx="594359" cy="0"/>
          </a:xfrm>
          <a:prstGeom prst="line">
            <a:avLst/>
          </a:prstGeom>
          <a:ln w="25400">
            <a:solidFill>
              <a:srgbClr val="2159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863840" y="3840480"/>
            <a:ext cx="0" cy="731520"/>
          </a:xfrm>
          <a:prstGeom prst="line">
            <a:avLst/>
          </a:prstGeom>
          <a:ln w="25400">
            <a:solidFill>
              <a:srgbClr val="2159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1365F"/>
                </a:solidFill>
              </a:rPr>
              <a:t>技术选型方案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06C78"/>
                </a:solidFill>
              </a:rPr>
              <a:t>低风险、可商用、适合中国团队落地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4663440" cy="640080"/>
          </a:xfrm>
          <a:prstGeom prst="rect">
            <a:avLst/>
          </a:prstGeom>
          <a:solidFill>
            <a:srgbClr val="F0F4F8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900" b="1">
                <a:solidFill>
                  <a:srgbClr val="1E293B"/>
                </a:solidFill>
                <a:latin typeface="Microsoft YaHei"/>
              </a:rPr>
              <a:t>FastAPI（MIT）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606039"/>
            <a:ext cx="4663440" cy="640080"/>
          </a:xfrm>
          <a:prstGeom prst="rect">
            <a:avLst/>
          </a:prstGeom>
          <a:solidFill>
            <a:srgbClr val="F0F4F8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900" b="1">
                <a:solidFill>
                  <a:srgbClr val="1E293B"/>
                </a:solidFill>
                <a:latin typeface="Microsoft YaHei"/>
              </a:rPr>
              <a:t>PostgreSQL（PostgreSQL License）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657600"/>
            <a:ext cx="4663440" cy="640080"/>
          </a:xfrm>
          <a:prstGeom prst="rect">
            <a:avLst/>
          </a:prstGeom>
          <a:solidFill>
            <a:srgbClr val="F0F4F8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900" b="1">
                <a:solidFill>
                  <a:srgbClr val="1E293B"/>
                </a:solidFill>
                <a:latin typeface="Microsoft YaHei"/>
              </a:rPr>
              <a:t>Redis（BSD 风格）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709159"/>
            <a:ext cx="4663440" cy="640080"/>
          </a:xfrm>
          <a:prstGeom prst="rect">
            <a:avLst/>
          </a:prstGeom>
          <a:solidFill>
            <a:srgbClr val="F0F4F8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900" b="1">
                <a:solidFill>
                  <a:srgbClr val="1E293B"/>
                </a:solidFill>
                <a:latin typeface="Microsoft YaHei"/>
              </a:rPr>
              <a:t>RabbitMQ / Kafka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554480"/>
            <a:ext cx="4663440" cy="640080"/>
          </a:xfrm>
          <a:prstGeom prst="rect">
            <a:avLst/>
          </a:prstGeom>
          <a:solidFill>
            <a:srgbClr val="21598F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900" b="1">
                <a:solidFill>
                  <a:srgbClr val="FFFFFF"/>
                </a:solidFill>
                <a:latin typeface="Microsoft YaHei"/>
              </a:rPr>
              <a:t>Prometheus + OpenTelemetry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606039"/>
            <a:ext cx="4663440" cy="640080"/>
          </a:xfrm>
          <a:prstGeom prst="rect">
            <a:avLst/>
          </a:prstGeom>
          <a:solidFill>
            <a:srgbClr val="21598F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900" b="1">
                <a:solidFill>
                  <a:srgbClr val="FFFFFF"/>
                </a:solidFill>
                <a:latin typeface="Microsoft YaHei"/>
              </a:rPr>
              <a:t>Docker + Kubernetes + Helm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3657600"/>
            <a:ext cx="4663440" cy="640080"/>
          </a:xfrm>
          <a:prstGeom prst="rect">
            <a:avLst/>
          </a:prstGeom>
          <a:solidFill>
            <a:srgbClr val="21598F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900" b="1">
                <a:solidFill>
                  <a:srgbClr val="FFFFFF"/>
                </a:solidFill>
                <a:latin typeface="Microsoft YaHei"/>
              </a:rPr>
              <a:t>云 KMS / Vault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4709159"/>
            <a:ext cx="4663440" cy="640080"/>
          </a:xfrm>
          <a:prstGeom prst="rect">
            <a:avLst/>
          </a:prstGeom>
          <a:solidFill>
            <a:srgbClr val="21598F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900" b="1">
                <a:solidFill>
                  <a:srgbClr val="FFFFFF"/>
                </a:solidFill>
                <a:latin typeface="Microsoft YaHei"/>
              </a:rPr>
              <a:t>OpenAI 兼容接口层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1365F"/>
                </a:solidFill>
              </a:rPr>
              <a:t>License 与合规考虑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06C78"/>
                </a:solidFill>
              </a:rPr>
              <a:t>优先采用商用友好技术栈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389120" cy="1828800"/>
          </a:xfrm>
          <a:prstGeom prst="roundRect">
            <a:avLst/>
          </a:prstGeom>
          <a:solidFill>
            <a:srgbClr val="398C5C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优先选：</a:t>
            </a:r>
            <a:br/>
            <a:r>
              <a:t>Apache 2.0</a:t>
            </a:r>
            <a:br/>
            <a:r>
              <a:t>MIT</a:t>
            </a:r>
            <a:br/>
            <a:r>
              <a:t>BSD</a:t>
            </a:r>
            <a:br/>
            <a:r>
              <a:t>PostgreSQL License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0" y="1645920"/>
            <a:ext cx="4389120" cy="1828800"/>
          </a:xfrm>
          <a:prstGeom prst="roundRect">
            <a:avLst/>
          </a:prstGeom>
          <a:solidFill>
            <a:srgbClr val="BD4343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注意：</a:t>
            </a:r>
            <a:br/>
            <a:r>
              <a:t>AGPL / GPL / SSPL</a:t>
            </a:r>
            <a:br/>
            <a:r>
              <a:t>可能带来源码公开风险</a:t>
            </a:r>
            <a:br/>
            <a:r>
              <a:t>或企业法务阻力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424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Microsoft YaHei"/>
              </a:rPr>
              <a:t>推荐优先使用 Apache 2.0 / MIT / BSD / PostgreSQL License 组件。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Microsoft YaHei"/>
              </a:rPr>
              <a:t>在 SaaS 场景中，AGPL 可能带来源码公开义务，企业客户通常不接受。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Microsoft YaHei"/>
              </a:rPr>
              <a:t>避免把 Grafana OSS / Elastic 等复杂许可组件直接嵌入核心产品代码中。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Microsoft YaHei"/>
              </a:rPr>
              <a:t>法务层面建议在组件选型阶段进行 license review，并保留最终审查步骤。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1365F"/>
                </a:solidFill>
              </a:rPr>
              <a:t>2 个月 MVP 成本预算（中国团队）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06C78"/>
                </a:solidFill>
              </a:rPr>
              <a:t>4 人团队，稳妥方案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645920"/>
            <a:ext cx="3931920" cy="731520"/>
          </a:xfrm>
          <a:prstGeom prst="rect">
            <a:avLst/>
          </a:prstGeom>
          <a:solidFill>
            <a:srgbClr val="F0F4F8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</a:rPr>
              <a:t>人员成本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0" y="1645920"/>
            <a:ext cx="5303520" cy="731520"/>
          </a:xfrm>
          <a:prstGeom prst="rect">
            <a:avLst/>
          </a:prstGeom>
          <a:solidFill>
            <a:srgbClr val="21598F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¥218,000 – ¥302,000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651760"/>
            <a:ext cx="3931920" cy="731520"/>
          </a:xfrm>
          <a:prstGeom prst="rect">
            <a:avLst/>
          </a:prstGeom>
          <a:solidFill>
            <a:srgbClr val="F0F4F8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</a:rPr>
              <a:t>基础 infra / tools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577840" y="2651760"/>
            <a:ext cx="5303520" cy="731520"/>
          </a:xfrm>
          <a:prstGeom prst="rect">
            <a:avLst/>
          </a:prstGeom>
          <a:solidFill>
            <a:srgbClr val="21598F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¥18,000 – ¥60,000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657600"/>
            <a:ext cx="3931920" cy="731520"/>
          </a:xfrm>
          <a:prstGeom prst="rect">
            <a:avLst/>
          </a:prstGeom>
          <a:solidFill>
            <a:srgbClr val="F0F4F8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</a:rPr>
              <a:t>LLM 调用测试成本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3657600"/>
            <a:ext cx="5303520" cy="731520"/>
          </a:xfrm>
          <a:prstGeom prst="rect">
            <a:avLst/>
          </a:prstGeom>
          <a:solidFill>
            <a:srgbClr val="21598F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¥2,200 – ¥21,600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4663440"/>
            <a:ext cx="3931920" cy="731520"/>
          </a:xfrm>
          <a:prstGeom prst="rect">
            <a:avLst/>
          </a:prstGeom>
          <a:solidFill>
            <a:srgbClr val="F0F4F8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</a:rPr>
              <a:t>合计预算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4663440"/>
            <a:ext cx="5303520" cy="731520"/>
          </a:xfrm>
          <a:prstGeom prst="rect">
            <a:avLst/>
          </a:prstGeom>
          <a:solidFill>
            <a:srgbClr val="21598F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¥260,000 – ¥400,000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1365F"/>
                </a:solidFill>
              </a:rPr>
              <a:t>关键风险与应对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06C78"/>
                </a:solidFill>
              </a:rPr>
              <a:t>把工程和经营风险提前识别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00400" cy="914400"/>
          </a:xfrm>
          <a:prstGeom prst="roundRect">
            <a:avLst/>
          </a:prstGeom>
          <a:solidFill>
            <a:srgbClr val="21598F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上游 provider 稳定性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6675120" cy="914400"/>
          </a:xfrm>
          <a:prstGeom prst="roundRect">
            <a:avLst/>
          </a:prstGeom>
          <a:solidFill>
            <a:srgbClr val="F0F4F8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E293B"/>
                </a:solidFill>
                <a:latin typeface="Microsoft YaHei"/>
              </a:rPr>
              <a:t>retry / fallback / circuit breaker / provider health watch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3200400" cy="914400"/>
          </a:xfrm>
          <a:prstGeom prst="roundRect">
            <a:avLst/>
          </a:prstGeom>
          <a:solidFill>
            <a:srgbClr val="21598F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流量冲击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926080"/>
            <a:ext cx="6675120" cy="914400"/>
          </a:xfrm>
          <a:prstGeom prst="roundRect">
            <a:avLst/>
          </a:prstGeom>
          <a:solidFill>
            <a:srgbClr val="F0F4F8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E293B"/>
                </a:solidFill>
                <a:latin typeface="Microsoft YaHei"/>
              </a:rPr>
              <a:t>租户限流 / quota / queue / token bucket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3200400" cy="914400"/>
          </a:xfrm>
          <a:prstGeom prst="roundRect">
            <a:avLst/>
          </a:prstGeom>
          <a:solidFill>
            <a:srgbClr val="21598F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成本失控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297680"/>
            <a:ext cx="6675120" cy="914400"/>
          </a:xfrm>
          <a:prstGeom prst="roundRect">
            <a:avLst/>
          </a:prstGeom>
          <a:solidFill>
            <a:srgbClr val="F0F4F8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E293B"/>
                </a:solidFill>
                <a:latin typeface="Microsoft YaHei"/>
              </a:rPr>
              <a:t>请求前成本估算 / budget cap / cost alert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669280"/>
            <a:ext cx="3200400" cy="914400"/>
          </a:xfrm>
          <a:prstGeom prst="roundRect">
            <a:avLst/>
          </a:prstGeom>
          <a:solidFill>
            <a:srgbClr val="21598F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合规隐私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5669280"/>
            <a:ext cx="6675120" cy="914400"/>
          </a:xfrm>
          <a:prstGeom prst="roundRect">
            <a:avLst/>
          </a:prstGeom>
          <a:solidFill>
            <a:srgbClr val="F0F4F8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E293B"/>
                </a:solidFill>
                <a:latin typeface="Microsoft YaHei"/>
              </a:rPr>
              <a:t>最小化日志 / BYOK / self-hosted / 审计导出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1365F"/>
                </a:solidFill>
              </a:rPr>
              <a:t>实施里程碑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606C78"/>
                </a:solidFill>
              </a:rPr>
              <a:t>建议 2 个月实现 MVP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286000" cy="2286000"/>
          </a:xfrm>
          <a:prstGeom prst="roundRect">
            <a:avLst/>
          </a:prstGeom>
          <a:solidFill>
            <a:srgbClr val="21598F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1-2周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Microsoft YaHei"/>
              </a:rPr>
              <a:t>需求确认、API 设计、基础环境奠定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2011680"/>
            <a:ext cx="2286000" cy="2286000"/>
          </a:xfrm>
          <a:prstGeom prst="roundRect">
            <a:avLst/>
          </a:prstGeom>
          <a:solidFill>
            <a:srgbClr val="F5903A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3-5周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Microsoft YaHei"/>
              </a:rPr>
              <a:t>网关与路由构建、租户认证、限流、日志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2286000" cy="2286000"/>
          </a:xfrm>
          <a:prstGeom prst="roundRect">
            <a:avLst/>
          </a:prstGeom>
          <a:solidFill>
            <a:srgbClr val="21598F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6-7周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Microsoft YaHei"/>
              </a:rPr>
              <a:t>OpenAI + Moonshot adapter、降级和重试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2011680"/>
            <a:ext cx="2286000" cy="2286000"/>
          </a:xfrm>
          <a:prstGeom prst="roundRect">
            <a:avLst/>
          </a:prstGeom>
          <a:solidFill>
            <a:srgbClr val="F5903A"/>
          </a:solidFill>
          <a:ln>
            <a:solidFill>
              <a:srgbClr val="215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8周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Microsoft YaHei"/>
              </a:rPr>
              <a:t>成本控制、演示、文档、风险复盘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36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058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结论：先做统一模型网关，再扩展企业级 AI 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Microsoft YaHei"/>
              </a:rPr>
              <a:t>1. 4 人中国团队、2 个月交付 MVP 是稳妥方案。</a:t>
            </a:r>
          </a:p>
          <a:p>
            <a:pPr algn="l"/>
            <a:r>
              <a:rPr sz="1800">
                <a:solidFill>
                  <a:srgbClr val="FFFFFF"/>
                </a:solidFill>
                <a:latin typeface="Microsoft YaHei"/>
              </a:rPr>
              <a:t>2. 统一模型网关是最有价值的底座，可支撑多租户和成本治理。</a:t>
            </a:r>
          </a:p>
          <a:p>
            <a:pPr algn="l"/>
            <a:r>
              <a:rPr sz="1800">
                <a:solidFill>
                  <a:srgbClr val="FFFFFF"/>
                </a:solidFill>
                <a:latin typeface="Microsoft YaHei"/>
              </a:rPr>
              <a:t>3. 选型优先考虑 Apache/MIT/BSD/PostgreSQL 这类商用友好组件。</a:t>
            </a:r>
          </a:p>
          <a:p>
            <a:pPr algn="l"/>
            <a:r>
              <a:rPr sz="1800">
                <a:solidFill>
                  <a:srgbClr val="FFFFFF"/>
                </a:solidFill>
                <a:latin typeface="Microsoft YaHei"/>
              </a:rPr>
              <a:t>4. 后续可顺势扩展到知识库、RAG、Agent 与企业 AI 助手。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Microsoft YaHei"/>
              </a:rPr>
              <a:t>统一模型网关平台 | 版本：MVP 路线图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