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24128"/>
            <a:ext cx="7772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700" b="1">
                <a:solidFill>
                  <a:srgbClr val="FFFFFF"/>
                </a:solidFill>
                <a:latin typeface="Aptos"/>
              </a:rPr>
              <a:t>Agent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783080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B8DBDA"/>
                </a:solidFill>
                <a:latin typeface="Aptos"/>
              </a:rPr>
              <a:t>Current implementation and API data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12848"/>
            <a:ext cx="9875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FastAPI agent service: RAG, memory, safety, model providers, SSE, and background 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3794760"/>
            <a:ext cx="2560320" cy="841248"/>
          </a:xfrm>
          <a:prstGeom prst="roundRect">
            <a:avLst/>
          </a:prstGeom>
          <a:solidFill>
            <a:srgbClr val="12807D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 API routes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3794760"/>
            <a:ext cx="2560320" cy="841248"/>
          </a:xfrm>
          <a:prstGeom prst="roundRect">
            <a:avLst/>
          </a:prstGeom>
          <a:solidFill>
            <a:srgbClr val="A63D2D"/>
          </a:solidFill>
          <a:ln w="15240">
            <a:solidFill>
              <a:srgbClr val="A6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 response modes</a:t>
            </a:r>
            <a:br/>
            <a:r>
              <a:t>JSON and SSE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93408" y="3794760"/>
            <a:ext cx="2560320" cy="841248"/>
          </a:xfrm>
          <a:prstGeom prst="roundRect">
            <a:avLst/>
          </a:prstGeom>
          <a:solidFill>
            <a:srgbClr val="DFA430"/>
          </a:solidFill>
          <a:ln w="15240">
            <a:solidFill>
              <a:srgbClr val="DF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23049"/>
                </a:solidFill>
                <a:latin typeface="Aptos"/>
              </a:rPr>
              <a:t>In-process task queue</a:t>
            </a:r>
            <a:br/>
            <a:r>
              <a:t>4 workers by 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989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B8DBDA"/>
                </a:solidFill>
                <a:latin typeface="Aptos"/>
              </a:rPr>
              <a:t>17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1018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3049"/>
                </a:solidFill>
                <a:latin typeface="Aptos"/>
              </a:rPr>
              <a:t>High-Level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94944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303D"/>
                </a:solidFill>
                <a:latin typeface="Aptos"/>
              </a:rPr>
              <a:t>One FastAPI process exposes five routes and coordinates request-local agents with shared in-memory services.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9848"/>
            <a:ext cx="11018520" cy="32004"/>
          </a:xfrm>
          <a:prstGeom prst="rect">
            <a:avLst/>
          </a:prstGeom>
          <a:solidFill>
            <a:srgbClr val="12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6419088"/>
            <a:ext cx="3840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23049"/>
                </a:solidFill>
                <a:latin typeface="Aptos"/>
              </a:rPr>
              <a:t>Agent Starter | Current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123049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1463040" cy="1097280"/>
          </a:xfrm>
          <a:prstGeom prst="roundRect">
            <a:avLst/>
          </a:prstGeom>
          <a:solidFill>
            <a:srgbClr val="123049"/>
          </a:solidFill>
          <a:ln w="15240">
            <a:solidFill>
              <a:srgbClr val="1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Clients</a:t>
            </a:r>
            <a:br/>
            <a:r>
              <a:t>HTTP JSON / SSE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011680"/>
            <a:ext cx="1645920" cy="1828800"/>
          </a:xfrm>
          <a:prstGeom prst="roundRect">
            <a:avLst/>
          </a:prstGeom>
          <a:solidFill>
            <a:srgbClr val="E2EFF6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3049"/>
                </a:solidFill>
                <a:latin typeface="Aptos"/>
              </a:rPr>
              <a:t>FastAPI</a:t>
            </a:r>
            <a:br/>
            <a:r>
              <a:t>/health</a:t>
            </a:r>
            <a:br/>
            <a:r>
              <a:t>/query</a:t>
            </a:r>
            <a:br/>
            <a:r>
              <a:t>/query/stream</a:t>
            </a:r>
            <a:br/>
            <a:r>
              <a:t>/tasks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40280"/>
            <a:ext cx="1783080" cy="1371600"/>
          </a:xfrm>
          <a:prstGeom prst="roundRect">
            <a:avLst/>
          </a:prstGeom>
          <a:solidFill>
            <a:srgbClr val="DCF2EE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3049"/>
                </a:solidFill>
                <a:latin typeface="Aptos"/>
              </a:rPr>
              <a:t>Request Agent</a:t>
            </a:r>
            <a:br/>
            <a:r>
              <a:t>safety + orchestration</a:t>
            </a:r>
            <a:br/>
            <a:r>
              <a:t>request-local usage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240280"/>
            <a:ext cx="1645920" cy="1371600"/>
          </a:xfrm>
          <a:prstGeom prst="roundRect">
            <a:avLst/>
          </a:prstGeom>
          <a:solidFill>
            <a:srgbClr val="FBF2D7"/>
          </a:solidFill>
          <a:ln w="15240">
            <a:solidFill>
              <a:srgbClr val="DF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3049"/>
                </a:solidFill>
                <a:latin typeface="Aptos"/>
              </a:rPr>
              <a:t>Model Provider</a:t>
            </a:r>
            <a:br/>
            <a:r>
              <a:t>Moonshot / OpenAI</a:t>
            </a:r>
            <a:br/>
            <a:r>
              <a:t>local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2240280"/>
            <a:ext cx="1965960" cy="1371600"/>
          </a:xfrm>
          <a:prstGeom prst="roundRect">
            <a:avLst/>
          </a:prstGeom>
          <a:solidFill>
            <a:srgbClr val="FBE7E1"/>
          </a:solidFill>
          <a:ln w="15240">
            <a:solidFill>
              <a:srgbClr val="A6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3049"/>
                </a:solidFill>
                <a:latin typeface="Aptos"/>
              </a:rPr>
              <a:t>TaskQueue</a:t>
            </a:r>
            <a:br/>
            <a:r>
              <a:t>ThreadPoolExecutor</a:t>
            </a:r>
            <a:br/>
            <a:r>
              <a:t>process-local state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20240" y="2926080"/>
            <a:ext cx="41148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77639" y="2926080"/>
            <a:ext cx="457201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217920" y="2926080"/>
            <a:ext cx="45720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977639" y="3429000"/>
            <a:ext cx="4800601" cy="0"/>
          </a:xfrm>
          <a:prstGeom prst="line">
            <a:avLst/>
          </a:prstGeom>
          <a:ln w="20320">
            <a:solidFill>
              <a:srgbClr val="A6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40680" y="3200400"/>
            <a:ext cx="1965960" cy="384048"/>
          </a:xfrm>
          <a:prstGeom prst="roundRect">
            <a:avLst/>
          </a:prstGeom>
          <a:solidFill>
            <a:srgbClr val="A63D2D"/>
          </a:solidFill>
          <a:ln w="15240">
            <a:solidFill>
              <a:srgbClr val="A6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Long-running prompts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7320" y="4773168"/>
            <a:ext cx="1234440" cy="594360"/>
          </a:xfrm>
          <a:prstGeom prst="roundRect">
            <a:avLst/>
          </a:prstGeom>
          <a:solidFill>
            <a:srgbClr val="DCF2EE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23049"/>
                </a:solidFill>
                <a:latin typeface="Aptos"/>
              </a:rPr>
              <a:t>Session</a:t>
            </a:r>
            <a:br/>
            <a:r>
              <a:t>Memory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4773168"/>
            <a:ext cx="1325880" cy="594360"/>
          </a:xfrm>
          <a:prstGeom prst="roundRect">
            <a:avLst/>
          </a:prstGeom>
          <a:solidFill>
            <a:srgbClr val="DCF2EE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23049"/>
                </a:solidFill>
                <a:latin typeface="Aptos"/>
              </a:rPr>
              <a:t>Long-Term</a:t>
            </a:r>
            <a:br/>
            <a:r>
              <a:t>Memory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4773168"/>
            <a:ext cx="1234440" cy="594360"/>
          </a:xfrm>
          <a:prstGeom prst="roundRect">
            <a:avLst/>
          </a:prstGeom>
          <a:solidFill>
            <a:srgbClr val="E2EFF6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23049"/>
                </a:solidFill>
                <a:latin typeface="Aptos"/>
              </a:rPr>
              <a:t>Retriever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4773168"/>
            <a:ext cx="1234440" cy="594360"/>
          </a:xfrm>
          <a:prstGeom prst="roundRect">
            <a:avLst/>
          </a:prstGeom>
          <a:solidFill>
            <a:srgbClr val="FBF2D7"/>
          </a:solidFill>
          <a:ln w="15240">
            <a:solidFill>
              <a:srgbClr val="DF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23049"/>
                </a:solidFill>
                <a:latin typeface="Aptos"/>
              </a:rPr>
              <a:t>Response</a:t>
            </a:r>
            <a:br/>
            <a:r>
              <a:t>Cache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773168"/>
            <a:ext cx="1234440" cy="594360"/>
          </a:xfrm>
          <a:prstGeom prst="roundRect">
            <a:avLst/>
          </a:prstGeom>
          <a:solidFill>
            <a:srgbClr val="E2EFF6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23049"/>
                </a:solidFill>
                <a:latin typeface="Aptos"/>
              </a:rPr>
              <a:t>Qdrant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039112" y="3611880"/>
            <a:ext cx="3282696" cy="1161288"/>
          </a:xfrm>
          <a:prstGeom prst="line">
            <a:avLst/>
          </a:prstGeom>
          <a:ln w="12700">
            <a:solidFill>
              <a:srgbClr val="738F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730752" y="3611880"/>
            <a:ext cx="1591056" cy="1161288"/>
          </a:xfrm>
          <a:prstGeom prst="line">
            <a:avLst/>
          </a:prstGeom>
          <a:ln w="12700">
            <a:solidFill>
              <a:srgbClr val="738F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21808" y="3611880"/>
            <a:ext cx="91440" cy="1161288"/>
          </a:xfrm>
          <a:prstGeom prst="line">
            <a:avLst/>
          </a:prstGeom>
          <a:ln w="12700">
            <a:solidFill>
              <a:srgbClr val="738F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21808" y="3611880"/>
            <a:ext cx="1737360" cy="1161288"/>
          </a:xfrm>
          <a:prstGeom prst="line">
            <a:avLst/>
          </a:prstGeom>
          <a:ln w="12700">
            <a:solidFill>
              <a:srgbClr val="738F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35040" y="5074920"/>
            <a:ext cx="2194560" cy="0"/>
          </a:xfrm>
          <a:prstGeom prst="line">
            <a:avLst/>
          </a:prstGeom>
          <a:ln w="1651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1018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3049"/>
                </a:solidFill>
                <a:latin typeface="Aptos"/>
              </a:rPr>
              <a:t>Endpoint: GET /health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94944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303D"/>
                </a:solidFill>
                <a:latin typeface="Aptos"/>
              </a:rPr>
              <a:t>Lightweight liveness check with no agent, model, memory, or task-queue dependency.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9848"/>
            <a:ext cx="11018520" cy="32004"/>
          </a:xfrm>
          <a:prstGeom prst="rect">
            <a:avLst/>
          </a:prstGeom>
          <a:solidFill>
            <a:srgbClr val="12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6419088"/>
            <a:ext cx="3840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23049"/>
                </a:solidFill>
                <a:latin typeface="Aptos"/>
              </a:rPr>
              <a:t>Agent Starter | Current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123049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514600"/>
            <a:ext cx="1417320" cy="822960"/>
          </a:xfrm>
          <a:prstGeom prst="roundRect">
            <a:avLst/>
          </a:prstGeom>
          <a:solidFill>
            <a:srgbClr val="123049"/>
          </a:solidFill>
          <a:ln w="15240">
            <a:solidFill>
              <a:srgbClr val="1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Client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2514600"/>
            <a:ext cx="1645920" cy="822960"/>
          </a:xfrm>
          <a:prstGeom prst="roundRect">
            <a:avLst/>
          </a:prstGeom>
          <a:solidFill>
            <a:srgbClr val="E2EFF6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23049"/>
                </a:solidFill>
                <a:latin typeface="Aptos"/>
              </a:rPr>
              <a:t>FastAPI router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2514600"/>
            <a:ext cx="1417320" cy="822960"/>
          </a:xfrm>
          <a:prstGeom prst="roundRect">
            <a:avLst/>
          </a:prstGeom>
          <a:solidFill>
            <a:srgbClr val="DCF2EE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23049"/>
                </a:solidFill>
                <a:latin typeface="Aptos"/>
              </a:rPr>
              <a:t>health()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514600"/>
            <a:ext cx="1828800" cy="822960"/>
          </a:xfrm>
          <a:prstGeom prst="roundRect">
            <a:avLst/>
          </a:prstGeom>
          <a:solidFill>
            <a:srgbClr val="FBF2D7"/>
          </a:solidFill>
          <a:ln w="15240">
            <a:solidFill>
              <a:srgbClr val="DF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200 JSON</a:t>
            </a:r>
            <a:br/>
            <a:r>
              <a:t>{ status: ok }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86000" y="2926080"/>
            <a:ext cx="68580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17720" y="2926080"/>
            <a:ext cx="68580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20840" y="2926080"/>
            <a:ext cx="68580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51560" y="4800600"/>
            <a:ext cx="9875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23049"/>
                </a:solidFill>
                <a:latin typeface="Aptos"/>
              </a:rPr>
              <a:t>Use for container and service availability checks. It only proves the API process can accept requests.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1018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3049"/>
                </a:solidFill>
                <a:latin typeface="Aptos"/>
              </a:rPr>
              <a:t>Endpoint: POST /query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94944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303D"/>
                </a:solidFill>
                <a:latin typeface="Aptos"/>
              </a:rPr>
              <a:t>Synchronous JSON path. Long-running prompts switch to asynchronous task admission after safety validation.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9848"/>
            <a:ext cx="11018520" cy="32004"/>
          </a:xfrm>
          <a:prstGeom prst="rect">
            <a:avLst/>
          </a:prstGeom>
          <a:solidFill>
            <a:srgbClr val="12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6419088"/>
            <a:ext cx="3840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23049"/>
                </a:solidFill>
                <a:latin typeface="Aptos"/>
              </a:rPr>
              <a:t>Agent Starter | Current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123049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" y="1554480"/>
            <a:ext cx="530352" cy="530352"/>
          </a:xfrm>
          <a:prstGeom prst="roundRect">
            <a:avLst/>
          </a:prstGeom>
          <a:solidFill>
            <a:srgbClr val="12807D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17556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175564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3049"/>
                </a:solidFill>
                <a:latin typeface="Aptos"/>
              </a:rPr>
              <a:t>POST prompt + session_id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58568" y="1828800"/>
            <a:ext cx="45720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83280" y="1554480"/>
            <a:ext cx="530352" cy="530352"/>
          </a:xfrm>
          <a:prstGeom prst="roundRect">
            <a:avLst/>
          </a:prstGeom>
          <a:solidFill>
            <a:srgbClr val="12807D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2194560"/>
            <a:ext cx="17556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2" y="2514600"/>
            <a:ext cx="175564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3049"/>
                </a:solidFill>
                <a:latin typeface="Aptos"/>
              </a:rPr>
              <a:t>validate and normalize prompt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26280" y="1828800"/>
            <a:ext cx="45720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50992" y="1554480"/>
            <a:ext cx="530352" cy="530352"/>
          </a:xfrm>
          <a:prstGeom prst="roundRect">
            <a:avLst/>
          </a:prstGeom>
          <a:solidFill>
            <a:srgbClr val="12807D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8344" y="2194560"/>
            <a:ext cx="17556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Classify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8344" y="2514600"/>
            <a:ext cx="175564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3049"/>
                </a:solidFill>
                <a:latin typeface="Aptos"/>
              </a:rPr>
              <a:t>long-running heuristic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93992" y="1828800"/>
            <a:ext cx="45720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918704" y="1554480"/>
            <a:ext cx="530352" cy="530352"/>
          </a:xfrm>
          <a:prstGeom prst="roundRect">
            <a:avLst/>
          </a:prstGeom>
          <a:solidFill>
            <a:srgbClr val="DFA430"/>
          </a:solidFill>
          <a:ln w="15240">
            <a:solidFill>
              <a:srgbClr val="DF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6055" y="2194560"/>
            <a:ext cx="17556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Execute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6055" y="2514600"/>
            <a:ext cx="175564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3049"/>
                </a:solidFill>
                <a:latin typeface="Aptos"/>
              </a:rPr>
              <a:t>thread-pool Agent.run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61704" y="1828800"/>
            <a:ext cx="45720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186416" y="1554480"/>
            <a:ext cx="530352" cy="530352"/>
          </a:xfrm>
          <a:prstGeom prst="roundRect">
            <a:avLst/>
          </a:prstGeom>
          <a:solidFill>
            <a:srgbClr val="DFA430"/>
          </a:solidFill>
          <a:ln w="15240">
            <a:solidFill>
              <a:srgbClr val="DF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8" y="2194560"/>
            <a:ext cx="17556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Return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73768" y="2514600"/>
            <a:ext cx="175564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3049"/>
                </a:solidFill>
                <a:latin typeface="Aptos"/>
              </a:rPr>
              <a:t>JSON response + usage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069080"/>
            <a:ext cx="4937760" cy="1005840"/>
          </a:xfrm>
          <a:prstGeom prst="roundRect">
            <a:avLst/>
          </a:prstGeom>
          <a:solidFill>
            <a:srgbClr val="DCF2EE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3049"/>
                </a:solidFill>
                <a:latin typeface="Aptos"/>
              </a:rPr>
              <a:t>Foreground branch</a:t>
            </a:r>
            <a:br/>
            <a:r>
              <a:t>Agent.run: session history + long-term memory + retriever</a:t>
            </a:r>
            <a:br/>
            <a:r>
              <a:t>-&gt; calculator or model/cache -&gt; persist both memories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069080"/>
            <a:ext cx="4937760" cy="1005840"/>
          </a:xfrm>
          <a:prstGeom prst="roundRect">
            <a:avLst/>
          </a:prstGeom>
          <a:solidFill>
            <a:srgbClr val="FBE7E1"/>
          </a:solidFill>
          <a:ln w="15240">
            <a:solidFill>
              <a:srgbClr val="A6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3049"/>
                </a:solidFill>
                <a:latin typeface="Aptos"/>
              </a:rPr>
              <a:t>Background branch</a:t>
            </a:r>
            <a:br/>
            <a:r>
              <a:t>TaskQueue.submit([prompt], session_id)</a:t>
            </a:r>
            <a:br/>
            <a:r>
              <a:t>-&gt; 202 { task_id, status: queued, execution_mode: background }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3383280" y="3072384"/>
            <a:ext cx="1664208" cy="996696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47488" y="3072384"/>
            <a:ext cx="3730752" cy="996696"/>
          </a:xfrm>
          <a:prstGeom prst="line">
            <a:avLst/>
          </a:prstGeom>
          <a:ln w="20320">
            <a:solidFill>
              <a:srgbClr val="A6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60120" y="5623560"/>
            <a:ext cx="10241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23049"/>
                </a:solidFill>
                <a:latin typeface="Aptos"/>
              </a:rPr>
              <a:t>Errors: unsafe prompt -&gt; 400; provider failure -&gt; 502; unexpected failure -&gt; 500.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1018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3049"/>
                </a:solidFill>
                <a:latin typeface="Aptos"/>
              </a:rPr>
              <a:t>Endpoint: POST /query/stream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94944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303D"/>
                </a:solidFill>
                <a:latin typeface="Aptos"/>
              </a:rPr>
              <a:t>SSE path emits progress events while streaming model content or following a queued long-running prompt.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9848"/>
            <a:ext cx="11018520" cy="32004"/>
          </a:xfrm>
          <a:prstGeom prst="rect">
            <a:avLst/>
          </a:prstGeom>
          <a:solidFill>
            <a:srgbClr val="12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6419088"/>
            <a:ext cx="3840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23049"/>
                </a:solidFill>
                <a:latin typeface="Aptos"/>
              </a:rPr>
              <a:t>Agent Starter | Current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123049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331720"/>
            <a:ext cx="1554480" cy="914400"/>
          </a:xfrm>
          <a:prstGeom prst="roundRect">
            <a:avLst/>
          </a:prstGeom>
          <a:solidFill>
            <a:srgbClr val="123049"/>
          </a:solidFill>
          <a:ln w="15240">
            <a:solidFill>
              <a:srgbClr val="1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Client</a:t>
            </a:r>
            <a:br/>
            <a:r>
              <a:t>POST prompt + session_id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2331720"/>
            <a:ext cx="1554480" cy="914400"/>
          </a:xfrm>
          <a:prstGeom prst="roundRect">
            <a:avLst/>
          </a:prstGeom>
          <a:solidFill>
            <a:srgbClr val="E2EFF6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3049"/>
                </a:solidFill>
                <a:latin typeface="Aptos"/>
              </a:rPr>
              <a:t>event_stream()</a:t>
            </a:r>
            <a:br/>
            <a:r>
              <a:t>status: started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331720"/>
            <a:ext cx="1554480" cy="914400"/>
          </a:xfrm>
          <a:prstGeom prst="roundRect">
            <a:avLst/>
          </a:prstGeom>
          <a:solidFill>
            <a:srgbClr val="FBF2D7"/>
          </a:solidFill>
          <a:ln w="15240">
            <a:solidFill>
              <a:srgbClr val="DF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3049"/>
                </a:solidFill>
                <a:latin typeface="Aptos"/>
              </a:rPr>
              <a:t>Safety validate</a:t>
            </a:r>
            <a:br/>
            <a:r>
              <a:t>classify 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600200"/>
            <a:ext cx="2057400" cy="914400"/>
          </a:xfrm>
          <a:prstGeom prst="roundRect">
            <a:avLst/>
          </a:prstGeom>
          <a:solidFill>
            <a:srgbClr val="DCF2EE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3049"/>
                </a:solidFill>
                <a:latin typeface="Aptos"/>
              </a:rPr>
              <a:t>Foreground</a:t>
            </a:r>
            <a:br/>
            <a:r>
              <a:t>context + iter_model_stream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3383280"/>
            <a:ext cx="2057400" cy="914400"/>
          </a:xfrm>
          <a:prstGeom prst="roundRect">
            <a:avLst/>
          </a:prstGeom>
          <a:solidFill>
            <a:srgbClr val="FBE7E1"/>
          </a:solidFill>
          <a:ln w="15240">
            <a:solidFill>
              <a:srgbClr val="A6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3049"/>
                </a:solidFill>
                <a:latin typeface="Aptos"/>
              </a:rPr>
              <a:t>Background</a:t>
            </a:r>
            <a:br/>
            <a:r>
              <a:t>submit + subscribe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331720"/>
            <a:ext cx="2011680" cy="914400"/>
          </a:xfrm>
          <a:prstGeom prst="roundRect">
            <a:avLst/>
          </a:prstGeom>
          <a:solidFill>
            <a:srgbClr val="123049"/>
          </a:solidFill>
          <a:ln w="15240">
            <a:solidFill>
              <a:srgbClr val="1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SSE response</a:t>
            </a:r>
            <a:br/>
            <a:r>
              <a:t>status | chunk | final</a:t>
            </a:r>
            <a:br/>
            <a:r>
              <a:t>error | heartbeat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65960" y="2788920"/>
            <a:ext cx="45720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977639" y="2788920"/>
            <a:ext cx="457201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989320" y="2057400"/>
            <a:ext cx="457200" cy="576072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89320" y="2944368"/>
            <a:ext cx="457200" cy="896112"/>
          </a:xfrm>
          <a:prstGeom prst="line">
            <a:avLst/>
          </a:prstGeom>
          <a:ln w="20320">
            <a:solidFill>
              <a:srgbClr val="A6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03920" y="2057400"/>
            <a:ext cx="640080" cy="59436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503920" y="2926080"/>
            <a:ext cx="640080" cy="914400"/>
          </a:xfrm>
          <a:prstGeom prst="line">
            <a:avLst/>
          </a:prstGeom>
          <a:ln w="20320">
            <a:solidFill>
              <a:srgbClr val="A6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5166360"/>
            <a:ext cx="10607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3049"/>
                </a:solidFill>
                <a:latin typeface="Aptos"/>
              </a:rPr>
              <a:t>Foreground: status retrieving_context -&gt; status generating -&gt; one chunk event per provider chunk -&gt; final; then persist memories.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96128"/>
            <a:ext cx="10607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3049"/>
                </a:solidFill>
                <a:latin typeface="Aptos"/>
              </a:rPr>
              <a:t>Background: replay queued/running/progress events; a 15-second idle period emits heartbeat until completed or failed.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1018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3049"/>
                </a:solidFill>
                <a:latin typeface="Aptos"/>
              </a:rPr>
              <a:t>Endpoint: POST /tasks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94944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303D"/>
                </a:solidFill>
                <a:latin typeface="Aptos"/>
              </a:rPr>
              <a:t>Asynchronous batch admission. Each non-empty prompt is submitted independently to the in-process executor.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9848"/>
            <a:ext cx="11018520" cy="32004"/>
          </a:xfrm>
          <a:prstGeom prst="rect">
            <a:avLst/>
          </a:prstGeom>
          <a:solidFill>
            <a:srgbClr val="12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6419088"/>
            <a:ext cx="3840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23049"/>
                </a:solidFill>
                <a:latin typeface="Aptos"/>
              </a:rPr>
              <a:t>Agent Starter | Current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123049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" y="1554480"/>
            <a:ext cx="530352" cy="530352"/>
          </a:xfrm>
          <a:prstGeom prst="roundRect">
            <a:avLst/>
          </a:prstGeom>
          <a:solidFill>
            <a:srgbClr val="12807D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17556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175564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3049"/>
                </a:solidFill>
                <a:latin typeface="Aptos"/>
              </a:rPr>
              <a:t>prompts[] + session_id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58568" y="1828800"/>
            <a:ext cx="45720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83280" y="1554480"/>
            <a:ext cx="530352" cy="530352"/>
          </a:xfrm>
          <a:prstGeom prst="roundRect">
            <a:avLst/>
          </a:prstGeom>
          <a:solidFill>
            <a:srgbClr val="12807D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2194560"/>
            <a:ext cx="17556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Normalize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2" y="2514600"/>
            <a:ext cx="175564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3049"/>
                </a:solidFill>
                <a:latin typeface="Aptos"/>
              </a:rPr>
              <a:t>strip and remove blanks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26280" y="1828800"/>
            <a:ext cx="45720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50992" y="1554480"/>
            <a:ext cx="530352" cy="530352"/>
          </a:xfrm>
          <a:prstGeom prst="roundRect">
            <a:avLst/>
          </a:prstGeom>
          <a:solidFill>
            <a:srgbClr val="12807D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8344" y="2194560"/>
            <a:ext cx="17556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8344" y="2514600"/>
            <a:ext cx="175564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3049"/>
                </a:solidFill>
                <a:latin typeface="Aptos"/>
              </a:rPr>
              <a:t>422 if batch is empty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93992" y="1828800"/>
            <a:ext cx="45720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918704" y="1554480"/>
            <a:ext cx="530352" cy="530352"/>
          </a:xfrm>
          <a:prstGeom prst="roundRect">
            <a:avLst/>
          </a:prstGeom>
          <a:solidFill>
            <a:srgbClr val="A63D2D"/>
          </a:solidFill>
          <a:ln w="15240">
            <a:solidFill>
              <a:srgbClr val="A6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6055" y="2194560"/>
            <a:ext cx="17556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Submit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6055" y="2514600"/>
            <a:ext cx="175564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3049"/>
                </a:solidFill>
                <a:latin typeface="Aptos"/>
              </a:rPr>
              <a:t>create UUID task_id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61704" y="1828800"/>
            <a:ext cx="45720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186416" y="1554480"/>
            <a:ext cx="530352" cy="530352"/>
          </a:xfrm>
          <a:prstGeom prst="roundRect">
            <a:avLst/>
          </a:prstGeom>
          <a:solidFill>
            <a:srgbClr val="12807D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8" y="2194560"/>
            <a:ext cx="17556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Respond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73768" y="2514600"/>
            <a:ext cx="175564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3049"/>
                </a:solidFill>
                <a:latin typeface="Aptos"/>
              </a:rPr>
              <a:t>202 queued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4041648"/>
            <a:ext cx="4480560" cy="1005840"/>
          </a:xfrm>
          <a:prstGeom prst="roundRect">
            <a:avLst/>
          </a:prstGeom>
          <a:solidFill>
            <a:srgbClr val="FBE7E1"/>
          </a:solidFill>
          <a:ln w="15240">
            <a:solidFill>
              <a:srgbClr val="A6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3049"/>
                </a:solidFill>
                <a:latin typeface="Aptos"/>
              </a:rPr>
              <a:t>TaskQueue state</a:t>
            </a:r>
            <a:br/>
            <a:r>
              <a:t>task_id, session_id, total, completed, results, error</a:t>
            </a:r>
            <a:br/>
            <a:r>
              <a:t>initial event: status = queued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4041648"/>
            <a:ext cx="4480560" cy="1005840"/>
          </a:xfrm>
          <a:prstGeom prst="roundRect">
            <a:avLst/>
          </a:prstGeom>
          <a:solidFill>
            <a:srgbClr val="DCF2EE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3049"/>
                </a:solidFill>
                <a:latin typeface="Aptos"/>
              </a:rPr>
              <a:t>Executor behavior</a:t>
            </a:r>
            <a:br/>
            <a:r>
              <a:t>submit one worker future per prompt</a:t>
            </a:r>
            <a:br/>
            <a:r>
              <a:t>max workers: AGENT_TASK_WORKERS (default 4)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40680" y="4544568"/>
            <a:ext cx="1143000" cy="0"/>
          </a:xfrm>
          <a:prstGeom prst="line">
            <a:avLst/>
          </a:prstGeom>
          <a:ln w="20320">
            <a:solidFill>
              <a:srgbClr val="A6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68680" y="5596128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23049"/>
                </a:solidFill>
                <a:latin typeface="Aptos"/>
              </a:rPr>
              <a:t>The client receives task_id immediately; results are retrieved through GET /tasks/{task_id} or streamed via POST /query/stream.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1018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3049"/>
                </a:solidFill>
                <a:latin typeface="Aptos"/>
              </a:rPr>
              <a:t>Endpoint: GET /tasks/{task_id}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94944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303D"/>
                </a:solidFill>
                <a:latin typeface="Aptos"/>
              </a:rPr>
              <a:t>Polling path returns a snapshot of task progress and results, preserving the original prompt order.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9848"/>
            <a:ext cx="11018520" cy="32004"/>
          </a:xfrm>
          <a:prstGeom prst="rect">
            <a:avLst/>
          </a:prstGeom>
          <a:solidFill>
            <a:srgbClr val="12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6419088"/>
            <a:ext cx="3840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23049"/>
                </a:solidFill>
                <a:latin typeface="Aptos"/>
              </a:rPr>
              <a:t>Agent Starter | Current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123049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14600"/>
            <a:ext cx="1325880" cy="822960"/>
          </a:xfrm>
          <a:prstGeom prst="roundRect">
            <a:avLst/>
          </a:prstGeom>
          <a:solidFill>
            <a:srgbClr val="123049"/>
          </a:solidFill>
          <a:ln w="15240">
            <a:solidFill>
              <a:srgbClr val="1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Client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514600"/>
            <a:ext cx="1828800" cy="822960"/>
          </a:xfrm>
          <a:prstGeom prst="roundRect">
            <a:avLst/>
          </a:prstGeom>
          <a:solidFill>
            <a:srgbClr val="E2EFF6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FastAPI</a:t>
            </a:r>
            <a:br/>
            <a:r>
              <a:t>task_status(task_id)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2514600"/>
            <a:ext cx="1737360" cy="822960"/>
          </a:xfrm>
          <a:prstGeom prst="roundRect">
            <a:avLst/>
          </a:prstGeom>
          <a:solidFill>
            <a:srgbClr val="DCF2EE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TaskQueue.get</a:t>
            </a:r>
            <a:br/>
            <a:r>
              <a:t>lock + copy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514600"/>
            <a:ext cx="1325880" cy="822960"/>
          </a:xfrm>
          <a:prstGeom prst="roundRect">
            <a:avLst/>
          </a:prstGeom>
          <a:solidFill>
            <a:srgbClr val="FBF2D7"/>
          </a:solidFill>
          <a:ln w="15240">
            <a:solidFill>
              <a:srgbClr val="DF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Task found?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1965960"/>
            <a:ext cx="1874519" cy="822960"/>
          </a:xfrm>
          <a:prstGeom prst="roundRect">
            <a:avLst/>
          </a:prstGeom>
          <a:solidFill>
            <a:srgbClr val="DCF2EE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3049"/>
                </a:solidFill>
                <a:latin typeface="Aptos"/>
              </a:rPr>
              <a:t>200 task snapshot</a:t>
            </a:r>
            <a:br/>
            <a:r>
              <a:t>results sorted by input index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55480" y="3246120"/>
            <a:ext cx="1874519" cy="685800"/>
          </a:xfrm>
          <a:prstGeom prst="roundRect">
            <a:avLst/>
          </a:prstGeom>
          <a:solidFill>
            <a:srgbClr val="FBE7E1"/>
          </a:solidFill>
          <a:ln w="15240">
            <a:solidFill>
              <a:srgbClr val="A6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3049"/>
                </a:solidFill>
                <a:latin typeface="Aptos"/>
              </a:rPr>
              <a:t>404</a:t>
            </a:r>
            <a:br/>
            <a:r>
              <a:t>Task not found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03120" y="2926080"/>
            <a:ext cx="64008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0" y="2926080"/>
            <a:ext cx="64008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2926080"/>
            <a:ext cx="64008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915400" y="2377440"/>
            <a:ext cx="640080" cy="36576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15400" y="3108960"/>
            <a:ext cx="640080" cy="457200"/>
          </a:xfrm>
          <a:prstGeom prst="line">
            <a:avLst/>
          </a:prstGeom>
          <a:ln w="20320">
            <a:solidFill>
              <a:srgbClr val="A6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5029200"/>
            <a:ext cx="10332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23049"/>
                </a:solidFill>
                <a:latin typeface="Aptos"/>
              </a:rPr>
              <a:t>Snapshot fields: task_id, status, session_id, total, completed, results, and error. Internal result-index state is omitted.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1018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3049"/>
                </a:solidFill>
                <a:latin typeface="Aptos"/>
              </a:rPr>
              <a:t>Operational Design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94944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303D"/>
                </a:solidFill>
                <a:latin typeface="Aptos"/>
              </a:rPr>
              <a:t>The present implementation is intentionally process-local; it supports concurrent work inside one FastAPI process.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9848"/>
            <a:ext cx="11018520" cy="32004"/>
          </a:xfrm>
          <a:prstGeom prst="rect">
            <a:avLst/>
          </a:prstGeom>
          <a:solidFill>
            <a:srgbClr val="12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6419088"/>
            <a:ext cx="3840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23049"/>
                </a:solidFill>
                <a:latin typeface="Aptos"/>
              </a:rPr>
              <a:t>Agent Starter | Current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123049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72768"/>
            <a:ext cx="4937760" cy="594360"/>
          </a:xfrm>
          <a:prstGeom prst="roundRect">
            <a:avLst/>
          </a:prstGeom>
          <a:solidFill>
            <a:srgbClr val="12807D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Current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23160"/>
            <a:ext cx="448056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303D"/>
                </a:solidFill>
                <a:latin typeface="Aptos"/>
              </a:rPr>
              <a:t>Request agents isolate mutable usage state.</a:t>
            </a:r>
            <a:br/>
            <a:r>
              <a:t>Memory and response cache use locks.</a:t>
            </a:r>
            <a:br/>
            <a:r>
              <a:t>TaskQueue retains tasks, event history, and subscribers in memory.</a:t>
            </a:r>
            <a:br/>
            <a:r>
              <a:t>Run Uvicorn with one worker for consistent task visibility.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72768"/>
            <a:ext cx="4937760" cy="594360"/>
          </a:xfrm>
          <a:prstGeom prst="roundRect">
            <a:avLst/>
          </a:prstGeom>
          <a:solidFill>
            <a:srgbClr val="A63D2D"/>
          </a:solidFill>
          <a:ln w="15240">
            <a:solidFill>
              <a:srgbClr val="A6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Scale-out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423160"/>
            <a:ext cx="448056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303D"/>
                </a:solidFill>
                <a:latin typeface="Aptos"/>
              </a:rPr>
              <a:t>Replace the in-process queue with durable workers.</a:t>
            </a:r>
            <a:br/>
            <a:r>
              <a:t>Move task state, cache, and session state to shared services.</a:t>
            </a:r>
            <a:br/>
            <a:r>
              <a:t>Keep Qdrant as the shared retrieval dependency.</a:t>
            </a:r>
            <a:br/>
            <a:r>
              <a:t>Then add multiple API processes behind a load balancer.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257800"/>
            <a:ext cx="1828800" cy="566928"/>
          </a:xfrm>
          <a:prstGeom prst="roundRect">
            <a:avLst/>
          </a:prstGeom>
          <a:solidFill>
            <a:srgbClr val="E2EFF6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3049"/>
                </a:solidFill>
                <a:latin typeface="Aptos"/>
              </a:rPr>
              <a:t>Single API process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5257800"/>
            <a:ext cx="1828800" cy="566928"/>
          </a:xfrm>
          <a:prstGeom prst="roundRect">
            <a:avLst/>
          </a:prstGeom>
          <a:solidFill>
            <a:srgbClr val="FBF2D7"/>
          </a:solidFill>
          <a:ln w="15240">
            <a:solidFill>
              <a:srgbClr val="DF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3049"/>
                </a:solidFill>
                <a:latin typeface="Aptos"/>
              </a:rPr>
              <a:t>Shared queue + state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5257800"/>
            <a:ext cx="1828800" cy="566928"/>
          </a:xfrm>
          <a:prstGeom prst="roundRect">
            <a:avLst/>
          </a:prstGeom>
          <a:solidFill>
            <a:srgbClr val="DCF2EE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3049"/>
                </a:solidFill>
                <a:latin typeface="Aptos"/>
              </a:rPr>
              <a:t>Multiple API workers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5257800"/>
            <a:ext cx="1828800" cy="566928"/>
          </a:xfrm>
          <a:prstGeom prst="roundRect">
            <a:avLst/>
          </a:prstGeom>
          <a:solidFill>
            <a:srgbClr val="FBE7E1"/>
          </a:solidFill>
          <a:ln w="15240">
            <a:solidFill>
              <a:srgbClr val="A6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3049"/>
                </a:solidFill>
                <a:latin typeface="Aptos"/>
              </a:rPr>
              <a:t>Durable task workers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26080" y="5541264"/>
            <a:ext cx="77724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532120" y="5541264"/>
            <a:ext cx="77724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138160" y="5541264"/>
            <a:ext cx="77724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